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822960"/>
            <a:ext cx="10362895" cy="5212080"/>
          </a:xfrm>
          <a:prstGeom prst="roundRect">
            <a:avLst/>
          </a:prstGeom>
          <a:solidFill>
            <a:srgbClr val="101624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37160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JSW MOTORS · HR OPERATING STANDARDS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92024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Executive Infographics Suite</a:t>
            </a:r>
          </a:p>
          <a:p>
            <a:pPr>
              <a:defRPr sz="1800">
                <a:solidFill>
                  <a:srgbClr val="94A3B8"/>
                </a:solidFill>
              </a:defRPr>
            </a:pPr>
            <a:r>
              <a:t>Dark 3D Chapter-wise Visual Architecture &amp; Compliance Framework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3931920"/>
            <a:ext cx="2194560" cy="100584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B82F6"/>
                </a:solidFill>
              </a:defRPr>
            </a:pPr>
            <a:r>
              <a:t>15 Infographics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All Blue Highlights Covered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94760" y="3931920"/>
            <a:ext cx="2194560" cy="100584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8 Chapters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From Structure to Governance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79" y="3931920"/>
            <a:ext cx="2194560" cy="100584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100% Verified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Zero-Hallucination Source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3931920"/>
            <a:ext cx="2194560" cy="100584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Executive 3D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Dark Theme Presentation Standard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52578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94A3B8"/>
                </a:solidFill>
              </a:defRPr>
            </a:pPr>
            <a:r>
              <a:t>Prepared for: Sumedha Ma'am | Team: Jayjeet, Sahil, Sagar, Soham | Live Link: https://shozaammm.github.io/jsw-hr-portal/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38912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Calibri"/>
              </a:defRPr>
            </a:pPr>
            <a:r>
              <a:t>EXECUTIVE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32004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JSW MOTORS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1F5F9"/>
                </a:solidFill>
                <a:latin typeface="Calibri"/>
              </a:defRPr>
            </a:pPr>
            <a:r>
              <a:t>15 Infographics Chapter-wise Distribution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Comprehensive visual architecture across all key operational HR areas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560320" cy="205740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B82F6"/>
                </a:solidFill>
              </a:defRPr>
            </a:pPr>
            <a:r>
              <a:t>Ch 2 · 3 Visuals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Dealership Org Structure</a:t>
            </a:r>
          </a:p>
          <a:p>
            <a:pPr>
              <a:defRPr sz="950">
                <a:solidFill>
                  <a:srgbClr val="06B6D4"/>
                </a:solidFill>
              </a:defRPr>
            </a:pPr>
            <a:r>
              <a:t>Sec 2.1 - 2.3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Reporting hierarchy, role architecture, 5 sizing factors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737360"/>
            <a:ext cx="2560320" cy="205740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Ch 3 · 2 Visuals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Recruitment &amp; Selection</a:t>
            </a:r>
          </a:p>
          <a:p>
            <a:pPr>
              <a:defRPr sz="950">
                <a:solidFill>
                  <a:srgbClr val="06B6D4"/>
                </a:solidFill>
              </a:defRPr>
            </a:pPr>
            <a:r>
              <a:t>Sec 3.1 - 3.2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Internal mobility guarantees, employee referral guardrails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737360"/>
            <a:ext cx="2560320" cy="205740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Ch 4 · 2 Visuals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Learning &amp; Development</a:t>
            </a:r>
          </a:p>
          <a:p>
            <a:pPr>
              <a:defRPr sz="950">
                <a:solidFill>
                  <a:srgbClr val="06B6D4"/>
                </a:solidFill>
              </a:defRPr>
            </a:pPr>
            <a:r>
              <a:t>Sec 4.1 - 4.4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Central LMS support model, mandatory HR monthly reports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737360"/>
            <a:ext cx="2560320" cy="205740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Ch 5 · 3 Visuals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Performance Management</a:t>
            </a:r>
          </a:p>
          <a:p>
            <a:pPr>
              <a:defRPr sz="950">
                <a:solidFill>
                  <a:srgbClr val="06B6D4"/>
                </a:solidFill>
              </a:defRPr>
            </a:pPr>
            <a:r>
              <a:t>Sec 5.1 - 5.4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SMART goals framework, mid-year review (working &amp; attention)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77639"/>
            <a:ext cx="2560320" cy="205740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8B5CF6"/>
                </a:solidFill>
              </a:defRPr>
            </a:pPr>
            <a:r>
              <a:t>Ch 6 · 1 Visual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Career Progression</a:t>
            </a:r>
          </a:p>
          <a:p>
            <a:pPr>
              <a:defRPr sz="950">
                <a:solidFill>
                  <a:srgbClr val="06B6D4"/>
                </a:solidFill>
              </a:defRPr>
            </a:pPr>
            <a:r>
              <a:t>Sec 6.1 - 6.2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7 Qualities of future people leaders &amp; competency paths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3977639"/>
            <a:ext cx="2560320" cy="205740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43F5E"/>
                </a:solidFill>
              </a:defRPr>
            </a:pPr>
            <a:r>
              <a:t>Ch 7 · 1 Visual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Compensation &amp; Benefits</a:t>
            </a:r>
          </a:p>
          <a:p>
            <a:pPr>
              <a:defRPr sz="950">
                <a:solidFill>
                  <a:srgbClr val="06B6D4"/>
                </a:solidFill>
              </a:defRPr>
            </a:pPr>
            <a:r>
              <a:t>Sec 7.1 - 7.3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Salary advance rules, eligibility limits, repayment cycle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977639"/>
            <a:ext cx="2560320" cy="205740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B82F6"/>
                </a:solidFill>
              </a:defRPr>
            </a:pPr>
            <a:r>
              <a:t>Ch 8 · 2 Visuals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Engagement &amp; Rewards</a:t>
            </a:r>
          </a:p>
          <a:p>
            <a:pPr>
              <a:defRPr sz="950">
                <a:solidFill>
                  <a:srgbClr val="06B6D4"/>
                </a:solidFill>
              </a:defRPr>
            </a:pPr>
            <a:r>
              <a:t>Sec 8.1 - 8.3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Annual engagement calendar timeline, spot recognition rules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3977639"/>
            <a:ext cx="2560320" cy="205740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Ch 11 · 1 Visual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Organisation Policies</a:t>
            </a:r>
          </a:p>
          <a:p>
            <a:pPr>
              <a:defRPr sz="950">
                <a:solidFill>
                  <a:srgbClr val="06B6D4"/>
                </a:solidFill>
              </a:defRPr>
            </a:pPr>
            <a:r>
              <a:t>Sec 11.1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Women working after dark safety checklist &amp; legal norms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9997135" cy="4663440"/>
          </a:xfrm>
          <a:prstGeom prst="roundRect">
            <a:avLst/>
          </a:prstGeom>
          <a:solidFill>
            <a:srgbClr val="111624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64592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CHAPTER 2 · INFOGRAPHIC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19456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Dealership Organisation Structure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Clear reporting hierarchies, role allocation, and staffing formulas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4389120"/>
            <a:ext cx="2926080" cy="45720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📊 3 Executive Visuals Included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38912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Calibri"/>
              </a:defRPr>
            </a:pPr>
            <a:r>
              <a:t>CHAPTER 2 · DEALERSHIP ORG STRUCTURE · SEC 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32004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JSW MOTORS</a:t>
            </a:r>
          </a:p>
          <a:p>
            <a:pPr algn="r">
              <a:defRPr sz="950" b="1">
                <a:solidFill>
                  <a:srgbClr val="F59E0B"/>
                </a:solidFill>
              </a:defRPr>
            </a:pPr>
            <a:r>
              <a:t>INFOGRAPHIC 01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1F5F9"/>
                </a:solidFill>
                <a:latin typeface="Calibri"/>
              </a:defRPr>
            </a:pPr>
            <a:r>
              <a:t>Why This Structure Is Required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Objective: A recommended reporting structure right-sized for outlet category, ensuring unambiguous accountability.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74720" cy="4297680"/>
          </a:xfrm>
          <a:prstGeom prst="roundRect">
            <a:avLst/>
          </a:prstGeom>
          <a:solidFill>
            <a:srgbClr val="131926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3B82F6"/>
                </a:solidFill>
              </a:defRPr>
            </a:pPr>
            <a:r>
              <a:t>01</a:t>
            </a:r>
          </a:p>
          <a:p>
            <a:pPr>
              <a:defRPr sz="1700" b="1">
                <a:solidFill>
                  <a:srgbClr val="FFFFFF"/>
                </a:solidFill>
              </a:defRPr>
            </a:pPr>
            <a:r>
              <a:t>Clear Accountability</a:t>
            </a:r>
          </a:p>
          <a:p>
            <a:pPr>
              <a:defRPr sz="1050" b="1">
                <a:solidFill>
                  <a:srgbClr val="F59E0B"/>
                </a:solidFill>
              </a:defRPr>
            </a:pPr>
            <a:r>
              <a:t>Prevents Overlapping Authority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Every dealership role answers to a designated functional lead. Eliminates conflicting instructions between sales, service, and administrative managers.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828800"/>
            <a:ext cx="3474720" cy="4297680"/>
          </a:xfrm>
          <a:prstGeom prst="roundRect">
            <a:avLst/>
          </a:prstGeom>
          <a:solidFill>
            <a:srgbClr val="13192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06B6D4"/>
                </a:solidFill>
              </a:defRPr>
            </a:pPr>
            <a:r>
              <a:t>02</a:t>
            </a:r>
          </a:p>
          <a:p>
            <a:pPr>
              <a:defRPr sz="1700" b="1">
                <a:solidFill>
                  <a:srgbClr val="FFFFFF"/>
                </a:solidFill>
              </a:defRPr>
            </a:pPr>
            <a:r>
              <a:t>Right-Sized Staffing</a:t>
            </a:r>
          </a:p>
          <a:p>
            <a:pPr>
              <a:defRPr sz="1050" b="1">
                <a:solidFill>
                  <a:srgbClr val="F59E0B"/>
                </a:solidFill>
              </a:defRPr>
            </a:pPr>
            <a:r>
              <a:t>Aligned to Volume &amp; Tier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Headcount is strictly budgeted based on outlet category (2S vs 3S) and target delivery volumes, avoiding under-resourced desks or idle payroll.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828800"/>
            <a:ext cx="3474720" cy="4297680"/>
          </a:xfrm>
          <a:prstGeom prst="roundRect">
            <a:avLst/>
          </a:prstGeom>
          <a:solidFill>
            <a:srgbClr val="13192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10B981"/>
                </a:solidFill>
              </a:defRPr>
            </a:pPr>
            <a:r>
              <a:t>03</a:t>
            </a:r>
          </a:p>
          <a:p>
            <a:pPr>
              <a:defRPr sz="1700" b="1">
                <a:solidFill>
                  <a:srgbClr val="FFFFFF"/>
                </a:solidFill>
              </a:defRPr>
            </a:pPr>
            <a:r>
              <a:t>Operational Scalability</a:t>
            </a:r>
          </a:p>
          <a:p>
            <a:pPr>
              <a:defRPr sz="1050" b="1">
                <a:solidFill>
                  <a:srgbClr val="F59E0B"/>
                </a:solidFill>
              </a:defRPr>
            </a:pPr>
            <a:r>
              <a:t>Seamless Outlet Growth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Standardized job descriptions allow satellite touchpoints and future branch expansions to mirror proven structural blueprints effortlessly.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38912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Calibri"/>
              </a:defRPr>
            </a:pPr>
            <a:r>
              <a:t>CHAPTER 2 · DEALERSHIP ORG STRUCTURE · SEC 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32004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JSW MOTORS</a:t>
            </a:r>
          </a:p>
          <a:p>
            <a:pPr algn="r">
              <a:defRPr sz="950" b="1">
                <a:solidFill>
                  <a:srgbClr val="F59E0B"/>
                </a:solidFill>
              </a:defRPr>
            </a:pPr>
            <a:r>
              <a:t>INFOGRAPHIC 02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1F5F9"/>
                </a:solidFill>
                <a:latin typeface="Calibri"/>
              </a:defRPr>
            </a:pPr>
            <a:r>
              <a:t>How The Structure Works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Section 2.1 — Three critical decisions decide who does what, before drafting the final dealership chart.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74720" cy="4297680"/>
          </a:xfrm>
          <a:prstGeom prst="roundRect">
            <a:avLst/>
          </a:prstGeom>
          <a:solidFill>
            <a:srgbClr val="13192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Step 01</a:t>
            </a:r>
          </a:p>
          <a:p>
            <a:pPr>
              <a:defRPr sz="1700" b="1">
                <a:solidFill>
                  <a:srgbClr val="FFFFFF"/>
                </a:solidFill>
              </a:defRPr>
            </a:pPr>
            <a:r>
              <a:t>What Roles A Dealership Needs</a:t>
            </a:r>
          </a:p>
          <a:p>
            <a:pPr>
              <a:defRPr sz="1100">
                <a:solidFill>
                  <a:srgbClr val="F59E0B"/>
                </a:solidFill>
              </a:defRPr>
            </a:pPr>
            <a:r>
              <a:t>Sized to the outlet category and volume plan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Assess operational footprint, showroom footfall, and bay capacity to derive mandatory frontline and supervisory headcount.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828800"/>
            <a:ext cx="3474720" cy="4297680"/>
          </a:xfrm>
          <a:prstGeom prst="roundRect">
            <a:avLst/>
          </a:prstGeom>
          <a:solidFill>
            <a:srgbClr val="131926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B82F6"/>
                </a:solidFill>
              </a:defRPr>
            </a:pPr>
            <a:r>
              <a:t>Step 02</a:t>
            </a:r>
          </a:p>
          <a:p>
            <a:pPr>
              <a:defRPr sz="1700" b="1">
                <a:solidFill>
                  <a:srgbClr val="FFFFFF"/>
                </a:solidFill>
              </a:defRPr>
            </a:pPr>
            <a:r>
              <a:t>Reporting Structure Of Each Role</a:t>
            </a:r>
          </a:p>
          <a:p>
            <a:pPr>
              <a:defRPr sz="1100">
                <a:solidFill>
                  <a:srgbClr val="F59E0B"/>
                </a:solidFill>
              </a:defRPr>
            </a:pPr>
            <a:r>
              <a:t>Who each role answers to functionally and day-to-day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Establish dual-reporting protocols (functional reporting to Department Head, administrative reporting to General Manager).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828800"/>
            <a:ext cx="3474720" cy="4297680"/>
          </a:xfrm>
          <a:prstGeom prst="roundRect">
            <a:avLst/>
          </a:prstGeom>
          <a:solidFill>
            <a:srgbClr val="131926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8B5CF6"/>
                </a:solidFill>
              </a:defRPr>
            </a:pPr>
            <a:r>
              <a:t>Step 03</a:t>
            </a:r>
          </a:p>
          <a:p>
            <a:pPr>
              <a:defRPr sz="1700" b="1">
                <a:solidFill>
                  <a:srgbClr val="FFFFFF"/>
                </a:solidFill>
              </a:defRPr>
            </a:pPr>
            <a:r>
              <a:t>Shared vs Dedicated Roles</a:t>
            </a:r>
          </a:p>
          <a:p>
            <a:pPr>
              <a:defRPr sz="1100">
                <a:solidFill>
                  <a:srgbClr val="F59E0B"/>
                </a:solidFill>
              </a:defRPr>
            </a:pPr>
            <a:r>
              <a:t>Which functions can be pooled across smaller outlets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Determine whether backend positions (finance, CRM, stock audit, HR) are dedicated to the main 3S hub or shared with 2S satellites.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38912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Calibri"/>
              </a:defRPr>
            </a:pPr>
            <a:r>
              <a:t>CHAPTER 2 · DEALERSHIP ORG STRUCTURE · SEC 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32004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JSW MOTORS</a:t>
            </a:r>
          </a:p>
          <a:p>
            <a:pPr algn="r">
              <a:defRPr sz="950" b="1">
                <a:solidFill>
                  <a:srgbClr val="F59E0B"/>
                </a:solidFill>
              </a:defRPr>
            </a:pPr>
            <a:r>
              <a:t>INFOGRAPHIC 03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1F5F9"/>
                </a:solidFill>
                <a:latin typeface="Calibri"/>
              </a:defRPr>
            </a:pPr>
            <a:r>
              <a:t>5 Factors That Shape Your Org Chart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Chart 2.1 — Review the volume norms shared by JSW Motors before finalizing staffing numbers.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77724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01  ·  Business Plan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Enquiry flow, walk-ins, and monthly retail targets determine front-desk &amp; sales force sizing.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79191"/>
            <a:ext cx="10698480" cy="77724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02  ·  Business Volume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Mix of new car delivery, certified pre-owned, corporate fleet, and accessory add-ons.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75304"/>
            <a:ext cx="10698480" cy="77724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03  ·  City Tier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Metro, Tier-1, Tier-2, or Tier-3 location dynamics affecting customer expectations &amp; hours.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471416"/>
            <a:ext cx="10698480" cy="77724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04  ·  Productivity Norms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Headcount ratios benchmarked against JSW Motors national operational productivity standards.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67528"/>
            <a:ext cx="10698480" cy="77724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8B5CF6"/>
                </a:solidFill>
              </a:defRPr>
            </a:pPr>
            <a:r>
              <a:t>05  ·  Outlet Type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Full 3S Facility (Sales, Service, Spares) vs compact 2S service satellite or boutique studio.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9997135" cy="4663440"/>
          </a:xfrm>
          <a:prstGeom prst="roundRect">
            <a:avLst/>
          </a:prstGeom>
          <a:solidFill>
            <a:srgbClr val="111624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64592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CHAPTER 3 · INFOGRAPHIC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19456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Recruitment and Selection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Fair candidate sourcing, internal mobility, and anti-nepotism guardrails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4389120"/>
            <a:ext cx="2926080" cy="45720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📊 2 Executive Visuals Included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38912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Calibri"/>
              </a:defRPr>
            </a:pPr>
            <a:r>
              <a:t>CHAPTER 3 · RECRUITMENT &amp; SELECTION · SEC 3.2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32004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JSW MOTORS</a:t>
            </a:r>
          </a:p>
          <a:p>
            <a:pPr algn="r">
              <a:defRPr sz="950" b="1">
                <a:solidFill>
                  <a:srgbClr val="F59E0B"/>
                </a:solidFill>
              </a:defRPr>
            </a:pPr>
            <a:r>
              <a:t>INFOGRAPHIC 04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1F5F9"/>
                </a:solidFill>
                <a:latin typeface="Calibri"/>
              </a:defRPr>
            </a:pPr>
            <a:r>
              <a:t>Internal Move: What's Guaranteed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Governed by 3D. Internal Job Posting (IJP) Application Form — Mandatory Employee Protections.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303520" cy="2057400"/>
          </a:xfrm>
          <a:prstGeom prst="roundRect">
            <a:avLst/>
          </a:prstGeom>
          <a:solidFill>
            <a:srgbClr val="13192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Guarantee 01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Manager Cannot Block Move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The releasing manager holds no veto power once an employee qualifies and receives an official IJP offer.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828800"/>
            <a:ext cx="5303520" cy="2057400"/>
          </a:xfrm>
          <a:prstGeom prst="roundRect">
            <a:avLst/>
          </a:prstGeom>
          <a:solidFill>
            <a:srgbClr val="131926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B82F6"/>
                </a:solidFill>
              </a:defRPr>
            </a:pPr>
            <a:r>
              <a:t>Guarantee 02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30-Day Handover Period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A structured transition of up to 30 days is agreed to ensure project continuity and knowledge transfer.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69080"/>
            <a:ext cx="5303520" cy="2057400"/>
          </a:xfrm>
          <a:prstGeom prst="roundRect">
            <a:avLst/>
          </a:prstGeom>
          <a:solidFill>
            <a:srgbClr val="13192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Guarantee 03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Probation in New Role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Employee serves a dedicated evaluation probation period in the new position with coaching support.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4069080"/>
            <a:ext cx="5303520" cy="2057400"/>
          </a:xfrm>
          <a:prstGeom prst="roundRect">
            <a:avLst/>
          </a:prstGeom>
          <a:solidFill>
            <a:srgbClr val="131926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8B5CF6"/>
                </a:solidFill>
              </a:defRPr>
            </a:pPr>
            <a:r>
              <a:t>Guarantee 04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Unbroken Benefits Continuity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All earned tenure, gratuity, leave balances, and company perks continue uninterrupted without reset.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38912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Calibri"/>
              </a:defRPr>
            </a:pPr>
            <a:r>
              <a:t>CHAPTER 3 · RECRUITMENT &amp; SELECTION · SEC 3.2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32004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JSW MOTORS</a:t>
            </a:r>
          </a:p>
          <a:p>
            <a:pPr algn="r">
              <a:defRPr sz="950" b="1">
                <a:solidFill>
                  <a:srgbClr val="F59E0B"/>
                </a:solidFill>
              </a:defRPr>
            </a:pPr>
            <a:r>
              <a:t>INFOGRAPHIC 05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1F5F9"/>
                </a:solidFill>
                <a:latin typeface="Calibri"/>
              </a:defRPr>
            </a:pPr>
            <a:r>
              <a:t>Referring A Family Member: The Guardrails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Reference: 3F. Employee Referral Form — Strict Anti-Nepotism &amp; Merit Integrity Protocols.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303520" cy="2057400"/>
          </a:xfrm>
          <a:prstGeom prst="roundRect">
            <a:avLst/>
          </a:prstGeom>
          <a:solidFill>
            <a:srgbClr val="13192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B6D4"/>
                </a:solidFill>
              </a:defRPr>
            </a:pPr>
            <a:r>
              <a:t>GUARDRAIL 01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Mandatory Relationship Disclosure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The referring employee must officially disclose the familial relation on the referral form prior to scheduling interviews.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828800"/>
            <a:ext cx="5303520" cy="2057400"/>
          </a:xfrm>
          <a:prstGeom prst="roundRect">
            <a:avLst/>
          </a:prstGeom>
          <a:solidFill>
            <a:srgbClr val="131926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B82F6"/>
                </a:solidFill>
              </a:defRPr>
            </a:pPr>
            <a:r>
              <a:t>GUARDRAIL 02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Strict Selection On Merit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Evaluation follows identical competency scoring and panel benchmarks as any external applicant, with zero exceptions.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69080"/>
            <a:ext cx="5303520" cy="2057400"/>
          </a:xfrm>
          <a:prstGeom prst="roundRect">
            <a:avLst/>
          </a:prstGeom>
          <a:solidFill>
            <a:srgbClr val="13192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GUARDRAIL 03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Standard Compensation Norms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Remuneration must strictly conform to JSW dealership grade bands and salary brackets without personalized packages.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4069080"/>
            <a:ext cx="5303520" cy="2057400"/>
          </a:xfrm>
          <a:prstGeom prst="roundRect">
            <a:avLst/>
          </a:prstGeom>
          <a:solidFill>
            <a:srgbClr val="131926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43F5E"/>
                </a:solidFill>
              </a:defRPr>
            </a:pPr>
            <a:r>
              <a:t>GUARDRAIL 04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Separation Of Teams &amp; Hierarchy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Family members cannot work within the same departmental hierarchy or hold any direct/indirect reporting relationship.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9997135" cy="4663440"/>
          </a:xfrm>
          <a:prstGeom prst="roundRect">
            <a:avLst/>
          </a:prstGeom>
          <a:solidFill>
            <a:srgbClr val="111624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64592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CHAPTER 4 · INFOGRAPHIC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19456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Learning and Development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Competency building, digital LMS enablement, and monthly tracking metrics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4389120"/>
            <a:ext cx="2926080" cy="45720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📊 2 Executive Visuals Included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38912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Calibri"/>
              </a:defRPr>
            </a:pPr>
            <a:r>
              <a:t>CHAPTER 4 · LEARNING &amp; DEVELOPMENT · SEC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32004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JSW MOTORS</a:t>
            </a:r>
          </a:p>
          <a:p>
            <a:pPr algn="r">
              <a:defRPr sz="950" b="1">
                <a:solidFill>
                  <a:srgbClr val="F59E0B"/>
                </a:solidFill>
              </a:defRPr>
            </a:pPr>
            <a:r>
              <a:t>INFOGRAPHIC 06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1F5F9"/>
                </a:solidFill>
                <a:latin typeface="Calibri"/>
              </a:defRPr>
            </a:pPr>
            <a:r>
              <a:t>What JSW Motors Provides Centrally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The dealership's part: preparing people for assessments and holding the operational standard on the floor.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303520" cy="2057400"/>
          </a:xfrm>
          <a:prstGeom prst="roundRect">
            <a:avLst/>
          </a:prstGeom>
          <a:solidFill>
            <a:srgbClr val="131926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B82F6"/>
                </a:solidFill>
              </a:defRPr>
            </a:pPr>
            <a:r>
              <a:t>Pillar 01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Learning Management System (LMS)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24/7 cloud-accessible portal delivering self-paced e-learning, digital modules, and product knowledge updates.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828800"/>
            <a:ext cx="5303520" cy="2057400"/>
          </a:xfrm>
          <a:prstGeom prst="roundRect">
            <a:avLst/>
          </a:prstGeom>
          <a:solidFill>
            <a:srgbClr val="13192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B6D4"/>
                </a:solidFill>
              </a:defRPr>
            </a:pPr>
            <a:r>
              <a:t>Pillar 02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Role-Mapped Curriculum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Every single dealership position has an mapped syllabus grounded in the official JSW Competency Framework.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69080"/>
            <a:ext cx="5303520" cy="2057400"/>
          </a:xfrm>
          <a:prstGeom prst="roundRect">
            <a:avLst/>
          </a:prstGeom>
          <a:solidFill>
            <a:srgbClr val="13192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Pillar 03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Progressive Learner Journeys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Structured tier levels (Foundation -&gt; Proficient -&gt; Master) guiding career-long skill acquisition.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4069080"/>
            <a:ext cx="5303520" cy="2057400"/>
          </a:xfrm>
          <a:prstGeom prst="roundRect">
            <a:avLst/>
          </a:prstGeom>
          <a:solidFill>
            <a:srgbClr val="13192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Pillar 04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Certification Assessments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Nationally standardized rigorous assessments certifying technician and executive operational readiness.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38912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Calibri"/>
              </a:defRPr>
            </a:pPr>
            <a:r>
              <a:t>CHAPTER 4 · LEARNING &amp; DEVELOPMENT · SEC 4.4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32004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JSW MOTORS</a:t>
            </a:r>
          </a:p>
          <a:p>
            <a:pPr algn="r">
              <a:defRPr sz="950" b="1">
                <a:solidFill>
                  <a:srgbClr val="F59E0B"/>
                </a:solidFill>
              </a:defRPr>
            </a:pPr>
            <a:r>
              <a:t>INFOGRAPHIC 07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1F5F9"/>
                </a:solidFill>
                <a:latin typeface="Calibri"/>
              </a:defRPr>
            </a:pPr>
            <a:r>
              <a:t>What HR Reports Monthly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Owner: Dealership HR Manager · Reviewed monthly with Dealer Principal &amp; JSW Leadership, Sec. 4.4.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74720" cy="4297680"/>
          </a:xfrm>
          <a:prstGeom prst="roundRect">
            <a:avLst/>
          </a:prstGeom>
          <a:solidFill>
            <a:srgbClr val="131926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B82F6"/>
                </a:solidFill>
              </a:defRPr>
            </a:pPr>
            <a:r>
              <a:t>Category I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Training Delivery Metrics</a:t>
            </a:r>
          </a:p>
          <a:p>
            <a:pPr>
              <a:defRPr sz="1050" b="1">
                <a:solidFill>
                  <a:srgbClr val="F59E0B"/>
                </a:solidFill>
              </a:defRPr>
            </a:pPr>
            <a:r>
              <a:t>Man-Hours Against Plan &amp; Employee Certification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Tracks cumulative hours invested per headcount against quarterly dealer targets, and records all certified staff.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828800"/>
            <a:ext cx="3474720" cy="4297680"/>
          </a:xfrm>
          <a:prstGeom prst="roundRect">
            <a:avLst/>
          </a:prstGeom>
          <a:solidFill>
            <a:srgbClr val="13192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Category II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Effectiveness Scores</a:t>
            </a:r>
          </a:p>
          <a:p>
            <a:pPr>
              <a:defRPr sz="1050" b="1">
                <a:solidFill>
                  <a:srgbClr val="F59E0B"/>
                </a:solidFill>
              </a:defRPr>
            </a:pPr>
            <a:r>
              <a:t>Post-Training Assessments &amp; On-The-Job Audits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Evaluates real behavioral change, score improvements on technical quizzes, and practical customer CSAT correlation.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828800"/>
            <a:ext cx="3474720" cy="4297680"/>
          </a:xfrm>
          <a:prstGeom prst="roundRect">
            <a:avLst/>
          </a:prstGeom>
          <a:solidFill>
            <a:srgbClr val="13192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Category III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Compliance Governance</a:t>
            </a:r>
          </a:p>
          <a:p>
            <a:pPr>
              <a:defRPr sz="1050" b="1">
                <a:solidFill>
                  <a:srgbClr val="F59E0B"/>
                </a:solidFill>
              </a:defRPr>
            </a:pPr>
            <a:r>
              <a:t>JSW Mandatory Training Completion Rate (%)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Monitors non-negotiable legal, POSH, brand-standard, and safety certifications across 100% of staff.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9997135" cy="4663440"/>
          </a:xfrm>
          <a:prstGeom prst="roundRect">
            <a:avLst/>
          </a:prstGeom>
          <a:solidFill>
            <a:srgbClr val="111624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64592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CHAPTER 5 · INFOGRAPHIC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19456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Performance Management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Goal setting frameworks, objective KPI tracking, and constructive mid-year reviews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4389120"/>
            <a:ext cx="2926080" cy="45720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📊 3 Executive Visuals Included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38912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Calibri"/>
              </a:defRPr>
            </a:pPr>
            <a:r>
              <a:t>CHAPTER 5 · PERFORMANCE MANAGEMENT · SEC 5.3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32004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JSW MOTORS</a:t>
            </a:r>
          </a:p>
          <a:p>
            <a:pPr algn="r">
              <a:defRPr sz="950" b="1">
                <a:solidFill>
                  <a:srgbClr val="F59E0B"/>
                </a:solidFill>
              </a:defRPr>
            </a:pPr>
            <a:r>
              <a:t>INFOGRAPHIC 08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1F5F9"/>
                </a:solidFill>
                <a:latin typeface="Calibri"/>
              </a:defRPr>
            </a:pPr>
            <a:r>
              <a:t>The SMART Goal Setting Framework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Documented in 5B. Goal Setting and KPI Sheet — Mandatory Standard for Annual Appraisal.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057400" cy="4297680"/>
          </a:xfrm>
          <a:prstGeom prst="roundRect">
            <a:avLst/>
          </a:prstGeom>
          <a:solidFill>
            <a:srgbClr val="131926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3B82F6"/>
                </a:solidFill>
              </a:defRPr>
            </a:pPr>
            <a:r>
              <a:t>S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Specific</a:t>
            </a:r>
          </a:p>
          <a:p>
            <a:pPr>
              <a:defRPr sz="950" b="1">
                <a:solidFill>
                  <a:srgbClr val="F59E0B"/>
                </a:solidFill>
              </a:defRPr>
            </a:pPr>
            <a:r>
              <a:t>Exactly what to accomplish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Define unambiguous operational outcomes without vague expectations.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98648" y="1828800"/>
            <a:ext cx="2057400" cy="4297680"/>
          </a:xfrm>
          <a:prstGeom prst="roundRect">
            <a:avLst/>
          </a:prstGeom>
          <a:solidFill>
            <a:srgbClr val="13192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06B6D4"/>
                </a:solidFill>
              </a:defRPr>
            </a:pPr>
            <a:r>
              <a:t>M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Measurable</a:t>
            </a:r>
          </a:p>
          <a:p>
            <a:pPr>
              <a:defRPr sz="950" b="1">
                <a:solidFill>
                  <a:srgbClr val="F59E0B"/>
                </a:solidFill>
              </a:defRPr>
            </a:pPr>
            <a:r>
              <a:t>How success is measured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Tie objectives to verifiable percentages, delivery counts, or rupee volumes.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65776" y="1828800"/>
            <a:ext cx="2057400" cy="4297680"/>
          </a:xfrm>
          <a:prstGeom prst="roundRect">
            <a:avLst/>
          </a:prstGeom>
          <a:solidFill>
            <a:srgbClr val="13192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10B981"/>
                </a:solidFill>
              </a:defRPr>
            </a:pPr>
            <a:r>
              <a:t>A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Achievable</a:t>
            </a:r>
          </a:p>
          <a:p>
            <a:pPr>
              <a:defRPr sz="950" b="1">
                <a:solidFill>
                  <a:srgbClr val="F59E0B"/>
                </a:solidFill>
              </a:defRPr>
            </a:pPr>
            <a:r>
              <a:t>Realistic with resources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Set ambitious yet feasible targets given available dealership tooling.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32904" y="1828800"/>
            <a:ext cx="2057400" cy="4297680"/>
          </a:xfrm>
          <a:prstGeom prst="roundRect">
            <a:avLst/>
          </a:prstGeom>
          <a:solidFill>
            <a:srgbClr val="13192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F59E0B"/>
                </a:solidFill>
              </a:defRPr>
            </a:pPr>
            <a:r>
              <a:t>R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Relevant</a:t>
            </a:r>
          </a:p>
          <a:p>
            <a:pPr>
              <a:defRPr sz="950" b="1">
                <a:solidFill>
                  <a:srgbClr val="F59E0B"/>
                </a:solidFill>
              </a:defRPr>
            </a:pPr>
            <a:r>
              <a:t>Aligns with objectives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Directly support dealership gross profitability and JSW customer standards.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00032" y="1828800"/>
            <a:ext cx="2057400" cy="4297680"/>
          </a:xfrm>
          <a:prstGeom prst="roundRect">
            <a:avLst/>
          </a:prstGeom>
          <a:solidFill>
            <a:srgbClr val="131926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8B5CF6"/>
                </a:solidFill>
              </a:defRPr>
            </a:pPr>
            <a:r>
              <a:t>T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Time-Bound</a:t>
            </a:r>
          </a:p>
          <a:p>
            <a:pPr>
              <a:defRPr sz="950" b="1">
                <a:solidFill>
                  <a:srgbClr val="F59E0B"/>
                </a:solidFill>
              </a:defRPr>
            </a:pPr>
            <a:r>
              <a:t>A clear deadline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Establish explicit milestone dates and review checkpoints throughout the year.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38912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Calibri"/>
              </a:defRPr>
            </a:pPr>
            <a:r>
              <a:t>CHAPTER 5 · PERFORMANCE MANAGEMENT · SEC 5.4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32004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JSW MOTORS</a:t>
            </a:r>
          </a:p>
          <a:p>
            <a:pPr algn="r">
              <a:defRPr sz="950" b="1">
                <a:solidFill>
                  <a:srgbClr val="F59E0B"/>
                </a:solidFill>
              </a:defRPr>
            </a:pPr>
            <a:r>
              <a:t>INFOGRAPHIC 09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1F5F9"/>
                </a:solidFill>
                <a:latin typeface="Calibri"/>
              </a:defRPr>
            </a:pPr>
            <a:r>
              <a:t>Mid-Year Review: What's Working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Recorded in 5C. Performance Review Form — Formal Recognition of Validated On-Track Performance.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303520" cy="4297680"/>
          </a:xfrm>
          <a:prstGeom prst="roundRect">
            <a:avLst/>
          </a:prstGeom>
          <a:solidFill>
            <a:srgbClr val="13192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Focus Area 01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Verifiable Quantitative Progress</a:t>
            </a:r>
          </a:p>
          <a:p>
            <a:pPr>
              <a:defRPr sz="1200" b="1">
                <a:solidFill>
                  <a:srgbClr val="F59E0B"/>
                </a:solidFill>
              </a:defRPr>
            </a:pPr>
            <a:r>
              <a:t>Where Each Goal Stands, In Numbers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Objectively record actual achievements against numerical KPIs (delivery volumes, first-time fix rates, CSI scores). Avoid subjective impressions.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828800"/>
            <a:ext cx="5303520" cy="4297680"/>
          </a:xfrm>
          <a:prstGeom prst="roundRect">
            <a:avLst/>
          </a:prstGeom>
          <a:solidFill>
            <a:srgbClr val="13192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Focus Area 02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Documented Favourable Results</a:t>
            </a:r>
          </a:p>
          <a:p>
            <a:pPr>
              <a:defRPr sz="1200" b="1">
                <a:solidFill>
                  <a:srgbClr val="F59E0B"/>
                </a:solidFill>
              </a:defRPr>
            </a:pPr>
            <a:r>
              <a:t>What Is Going Well, Plainly &amp; Specifically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Highlight specific projects, customer compliments, process improvements, or teamwork excellence demonstrated during the first half.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38912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Calibri"/>
              </a:defRPr>
            </a:pPr>
            <a:r>
              <a:t>CHAPTER 5 · PERFORMANCE MANAGEMENT · SEC 5.4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32004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JSW MOTORS</a:t>
            </a:r>
          </a:p>
          <a:p>
            <a:pPr algn="r">
              <a:defRPr sz="950" b="1">
                <a:solidFill>
                  <a:srgbClr val="F59E0B"/>
                </a:solidFill>
              </a:defRPr>
            </a:pPr>
            <a:r>
              <a:t>INFOGRAPHIC 10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1F5F9"/>
                </a:solidFill>
                <a:latin typeface="Calibri"/>
              </a:defRPr>
            </a:pPr>
            <a:r>
              <a:t>Mid-Year Review: What Needs Attention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Agreed conclusions must be confirmed via email with Dealership HR Manager in CC.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303520" cy="4297680"/>
          </a:xfrm>
          <a:prstGeom prst="roundRect">
            <a:avLst/>
          </a:prstGeom>
          <a:solidFill>
            <a:srgbClr val="13192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Action Area 03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Performance Gaps &amp; Root Solutions</a:t>
            </a:r>
          </a:p>
          <a:p>
            <a:pPr>
              <a:defRPr sz="1200" b="1">
                <a:solidFill>
                  <a:srgbClr val="F59E0B"/>
                </a:solidFill>
              </a:defRPr>
            </a:pPr>
            <a:r>
              <a:t>What Has To Change &amp; Support Needed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Pinpoint root obstacles (training deficits, lead distribution, tool constraints) rather than blaming individuals. Document specific managerial support.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828800"/>
            <a:ext cx="5303520" cy="4297680"/>
          </a:xfrm>
          <a:prstGeom prst="roundRect">
            <a:avLst/>
          </a:prstGeom>
          <a:solidFill>
            <a:srgbClr val="131926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43F5E"/>
                </a:solidFill>
              </a:defRPr>
            </a:pPr>
            <a:r>
              <a:t>Action Area 04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Formal Agreements &amp; Adjustments</a:t>
            </a:r>
          </a:p>
          <a:p>
            <a:pPr>
              <a:defRPr sz="1200" b="1">
                <a:solidFill>
                  <a:srgbClr val="F59E0B"/>
                </a:solidFill>
              </a:defRPr>
            </a:pPr>
            <a:r>
              <a:t>Whether Any Goal Needs Official Revising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If market conditions or dealership territories have shifted materially, formalize adjusted targets with mutual sign-off and HR logging.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9997135" cy="4663440"/>
          </a:xfrm>
          <a:prstGeom prst="roundRect">
            <a:avLst/>
          </a:prstGeom>
          <a:solidFill>
            <a:srgbClr val="111624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64592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CHAPTER 6 · INFOGRAPHIC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19456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Career Progression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Leadership succession benchmarks and behavioral competencies beyond job titles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4389120"/>
            <a:ext cx="2926080" cy="45720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📊 1 Executive Visuals Included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38912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Calibri"/>
              </a:defRPr>
            </a:pPr>
            <a:r>
              <a:t>CHAPTER 6 · CAREER PROGRESSION · SEC 6.2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32004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JSW MOTORS</a:t>
            </a:r>
          </a:p>
          <a:p>
            <a:pPr algn="r">
              <a:defRPr sz="950" b="1">
                <a:solidFill>
                  <a:srgbClr val="F59E0B"/>
                </a:solidFill>
              </a:defRPr>
            </a:pPr>
            <a:r>
              <a:t>INFOGRAPHIC 11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1F5F9"/>
                </a:solidFill>
                <a:latin typeface="Calibri"/>
              </a:defRPr>
            </a:pPr>
            <a:r>
              <a:t>7 Qualities Of Future People Leaders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Competencies alone are not sufficient for a good people leader; character and empathy drive performance.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560320" cy="2011680"/>
          </a:xfrm>
          <a:prstGeom prst="roundRect">
            <a:avLst/>
          </a:prstGeom>
          <a:solidFill>
            <a:srgbClr val="131926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01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Kind and Helpful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Supports peers instinctively and maintains a constructive floor environment.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828800"/>
            <a:ext cx="2560320" cy="2011680"/>
          </a:xfrm>
          <a:prstGeom prst="roundRect">
            <a:avLst/>
          </a:prstGeom>
          <a:solidFill>
            <a:srgbClr val="13192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02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Integrity &amp; Empathy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Acts ethically at all times and actively listens to frontline concerns.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828800"/>
            <a:ext cx="2560320" cy="2011680"/>
          </a:xfrm>
          <a:prstGeom prst="roundRect">
            <a:avLst/>
          </a:prstGeom>
          <a:solidFill>
            <a:srgbClr val="13192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03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Accountability &amp; Fairness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Takes ownership of mistakes and applies consistent standards across team.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828800"/>
            <a:ext cx="2560320" cy="2011680"/>
          </a:xfrm>
          <a:prstGeom prst="roundRect">
            <a:avLst/>
          </a:prstGeom>
          <a:solidFill>
            <a:srgbClr val="13192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04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Coaching Mindset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Invests time in developing junior technicians and sales executives.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2560320" cy="2011680"/>
          </a:xfrm>
          <a:prstGeom prst="roundRect">
            <a:avLst/>
          </a:prstGeom>
          <a:solidFill>
            <a:srgbClr val="131926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8B5CF6"/>
                </a:solidFill>
              </a:defRPr>
            </a:pPr>
            <a:r>
              <a:t>05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Humility &amp; Approachability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Receptive to feedback without defensiveness; easy to talk 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4023360"/>
            <a:ext cx="2560320" cy="2011680"/>
          </a:xfrm>
          <a:prstGeom prst="roundRect">
            <a:avLst/>
          </a:prstGeom>
          <a:solidFill>
            <a:srgbClr val="131926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43F5E"/>
                </a:solidFill>
              </a:defRPr>
            </a:pPr>
            <a:r>
              <a:t>06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Clear Communication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Translates leadership strategies into simple daily execution priorities.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77740" y="4023360"/>
            <a:ext cx="3200400" cy="2011680"/>
          </a:xfrm>
          <a:prstGeom prst="roundRect">
            <a:avLst/>
          </a:prstGeom>
          <a:solidFill>
            <a:srgbClr val="131926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07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Respect Through Action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Leads from the front and commands trust through deeds, not title authority.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9997135" cy="4663440"/>
          </a:xfrm>
          <a:prstGeom prst="roundRect">
            <a:avLst/>
          </a:prstGeom>
          <a:solidFill>
            <a:srgbClr val="111624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64592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CHAPTER 7 · INFOGRAPHIC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19456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Compensation and Benefits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Financial assistance policies, salary advances, and structured repayment rules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4389120"/>
            <a:ext cx="2926080" cy="45720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📊 1 Executive Visuals Included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38912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Calibri"/>
              </a:defRPr>
            </a:pPr>
            <a:r>
              <a:t>CHAPTER 7 · COMPENSATION &amp; BENEFITS · SEC 7.3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32004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JSW MOTORS</a:t>
            </a:r>
          </a:p>
          <a:p>
            <a:pPr algn="r">
              <a:defRPr sz="950" b="1">
                <a:solidFill>
                  <a:srgbClr val="F59E0B"/>
                </a:solidFill>
              </a:defRPr>
            </a:pPr>
            <a:r>
              <a:t>INFOGRAPHIC 12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1F5F9"/>
                </a:solidFill>
                <a:latin typeface="Calibri"/>
              </a:defRPr>
            </a:pPr>
            <a:r>
              <a:t>Salary Advance: The 4 Rules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Reference: Advance Salary Request Form — Mandatory Employee Welfare &amp; Compliance Process.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560320" cy="4297680"/>
          </a:xfrm>
          <a:prstGeom prst="roundRect">
            <a:avLst/>
          </a:prstGeom>
          <a:solidFill>
            <a:srgbClr val="131926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B82F6"/>
                </a:solidFill>
              </a:defRPr>
            </a:pPr>
            <a:r>
              <a:t>Rule 01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Maximum Cap</a:t>
            </a:r>
          </a:p>
          <a:p>
            <a:pPr>
              <a:defRPr sz="1000" b="1">
                <a:solidFill>
                  <a:srgbClr val="F59E0B"/>
                </a:solidFill>
              </a:defRPr>
            </a:pPr>
            <a:r>
              <a:t>Up To 1 Month Net Salary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Granted strictly for genuine personal emergencies (medical, family crisis). Limited to one month's net take-home salary.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828800"/>
            <a:ext cx="2560320" cy="4297680"/>
          </a:xfrm>
          <a:prstGeom prst="roundRect">
            <a:avLst/>
          </a:prstGeom>
          <a:solidFill>
            <a:srgbClr val="13192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Rule 02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Tenure Qualification</a:t>
            </a:r>
          </a:p>
          <a:p>
            <a:pPr>
              <a:defRPr sz="1000" b="1">
                <a:solidFill>
                  <a:srgbClr val="F59E0B"/>
                </a:solidFill>
              </a:defRPr>
            </a:pPr>
            <a:r>
              <a:t>Confirmed Employees Only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Probationary and contract staff are not eligible. Employee must have successfully completed confirmation period.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828800"/>
            <a:ext cx="2560320" cy="4297680"/>
          </a:xfrm>
          <a:prstGeom prst="roundRect">
            <a:avLst/>
          </a:prstGeom>
          <a:solidFill>
            <a:srgbClr val="13192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Rule 03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Repayment Plan</a:t>
            </a:r>
          </a:p>
          <a:p>
            <a:pPr>
              <a:defRPr sz="1000" b="1">
                <a:solidFill>
                  <a:srgbClr val="F59E0B"/>
                </a:solidFill>
              </a:defRPr>
            </a:pPr>
            <a:r>
              <a:t>Recovered in 3 to 6 Instalments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Repayment schedule is drafted in writing and deducted directly from monthly payroll over a maximum of 6 months.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828800"/>
            <a:ext cx="2560320" cy="4297680"/>
          </a:xfrm>
          <a:prstGeom prst="roundRect">
            <a:avLst/>
          </a:prstGeom>
          <a:solidFill>
            <a:srgbClr val="13192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Rule 04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Approval Authority</a:t>
            </a:r>
          </a:p>
          <a:p>
            <a:pPr>
              <a:defRPr sz="1000" b="1">
                <a:solidFill>
                  <a:srgbClr val="F59E0B"/>
                </a:solidFill>
              </a:defRPr>
            </a:pPr>
            <a:r>
              <a:t>Approved by Dealer Principal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Requires formal endorsement from both Dealership HR Manager and final written sanction by the Dealer Principal.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9997135" cy="4663440"/>
          </a:xfrm>
          <a:prstGeom prst="roundRect">
            <a:avLst/>
          </a:prstGeom>
          <a:solidFill>
            <a:srgbClr val="111624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64592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CHAPTER 8 · INFOGRAPHIC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19456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Employee Engagement, Rewards &amp; Recognition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Building high-morale culture, annual engagement rhythm, and spot awards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4389120"/>
            <a:ext cx="2926080" cy="45720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📊 2 Executive Visuals Included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38912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Calibri"/>
              </a:defRPr>
            </a:pPr>
            <a:r>
              <a:t>CHAPTER 8 · ENGAGEMENT &amp; REWARDS · SEC 8.1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32004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JSW MOTORS</a:t>
            </a:r>
          </a:p>
          <a:p>
            <a:pPr algn="r">
              <a:defRPr sz="950" b="1">
                <a:solidFill>
                  <a:srgbClr val="F59E0B"/>
                </a:solidFill>
              </a:defRPr>
            </a:pPr>
            <a:r>
              <a:t>INFOGRAPHIC 13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1F5F9"/>
                </a:solidFill>
                <a:latin typeface="Calibri"/>
              </a:defRPr>
            </a:pPr>
            <a:r>
              <a:t>Building The Engagement Calendar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Sec. 8.1 — Dealership HR Manager drives all 4 sequential milestones annually.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560320" cy="4297680"/>
          </a:xfrm>
          <a:prstGeom prst="roundRect">
            <a:avLst/>
          </a:prstGeom>
          <a:solidFill>
            <a:srgbClr val="131926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B82F6"/>
                </a:solidFill>
              </a:defRPr>
            </a:pPr>
            <a:r>
              <a:t>Milestone 01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Release At Year-End</a:t>
            </a:r>
          </a:p>
          <a:p>
            <a:pPr>
              <a:defRPr sz="1000" b="1">
                <a:solidFill>
                  <a:srgbClr val="F59E0B"/>
                </a:solidFill>
              </a:defRPr>
            </a:pPr>
            <a:r>
              <a:t>Publish Next Year's Master Plan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Draft and circulate the complete engagement and festival schedule before December 31st for operational predictability.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828800"/>
            <a:ext cx="2560320" cy="4297680"/>
          </a:xfrm>
          <a:prstGeom prst="roundRect">
            <a:avLst/>
          </a:prstGeom>
          <a:solidFill>
            <a:srgbClr val="13192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Milestone 02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Cross-Team Planning</a:t>
            </a:r>
          </a:p>
          <a:p>
            <a:pPr>
              <a:defRPr sz="1000" b="1">
                <a:solidFill>
                  <a:srgbClr val="F59E0B"/>
                </a:solidFill>
              </a:defRPr>
            </a:pPr>
            <a:r>
              <a:t>Involve Whole Dealership Team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Form an employee representative committee with sales, service, and administrative members to shape chosen activities.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828800"/>
            <a:ext cx="2560320" cy="4297680"/>
          </a:xfrm>
          <a:prstGeom prst="roundRect">
            <a:avLst/>
          </a:prstGeom>
          <a:solidFill>
            <a:srgbClr val="13192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Milestone 03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Annual Satisfaction Score</a:t>
            </a:r>
          </a:p>
          <a:p>
            <a:pPr>
              <a:defRPr sz="1000" b="1">
                <a:solidFill>
                  <a:srgbClr val="F59E0B"/>
                </a:solidFill>
              </a:defRPr>
            </a:pPr>
            <a:r>
              <a:t>Gather Structured Employee Feedback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Deploy an anonymous annual satisfaction survey to measure morale, managerial support, and workplace safety sentiment.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828800"/>
            <a:ext cx="2560320" cy="4297680"/>
          </a:xfrm>
          <a:prstGeom prst="roundRect">
            <a:avLst/>
          </a:prstGeom>
          <a:solidFill>
            <a:srgbClr val="13192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Milestone 04</a:t>
            </a:r>
          </a:p>
          <a:p>
            <a:pPr>
              <a:defRPr sz="1500" b="1">
                <a:solidFill>
                  <a:srgbClr val="FFFFFF"/>
                </a:solidFill>
              </a:defRPr>
            </a:pPr>
            <a:r>
              <a:t>Promote Culture &amp; Welfare</a:t>
            </a:r>
          </a:p>
          <a:p>
            <a:pPr>
              <a:defRPr sz="1000" b="1">
                <a:solidFill>
                  <a:srgbClr val="F59E0B"/>
                </a:solidFill>
              </a:defRPr>
            </a:pPr>
            <a:r>
              <a:t>Foster Customer First Values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Integrate social celebrations, health check camps, sports tournaments, and customer service champion recognition.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38912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Calibri"/>
              </a:defRPr>
            </a:pPr>
            <a:r>
              <a:t>CHAPTER 8 · ENGAGEMENT &amp; REWARDS · SEC 8.3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32004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JSW MOTORS</a:t>
            </a:r>
          </a:p>
          <a:p>
            <a:pPr algn="r">
              <a:defRPr sz="950" b="1">
                <a:solidFill>
                  <a:srgbClr val="F59E0B"/>
                </a:solidFill>
              </a:defRPr>
            </a:pPr>
            <a:r>
              <a:t>INFOGRAPHIC 14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1F5F9"/>
                </a:solidFill>
                <a:latin typeface="Calibri"/>
              </a:defRPr>
            </a:pPr>
            <a:r>
              <a:t>Spot Recognition: What Qualifies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Reserved for exceptional frontline contributions — immediate nomination by managers, Sec. 8.3.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77724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01  ·  Exceptional Customer Handling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Going beyond standard protocols to delight a walk-in or roadside assistance customer in distress.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79191"/>
            <a:ext cx="10698480" cy="77724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02  ·  Difficult Deal Closures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Overcoming complex negotiations or fleet objections with exemplary professionalism and brand advocacy.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75304"/>
            <a:ext cx="10698480" cy="77724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03  ·  Large Fleet Sales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Securing major corporate or commercial institutional contracts through initiative and strategic follow-up.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471416"/>
            <a:ext cx="10698480" cy="77724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04  ·  High-Value Referrals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Actively sourcing premium customer leads and high-retention corporate accounts outside normal channels.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67528"/>
            <a:ext cx="10698480" cy="77724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8B5CF6"/>
                </a:solidFill>
              </a:defRPr>
            </a:pPr>
            <a:r>
              <a:t>05  ·  Recovery Of Dissatisfied Customers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Turning an escalated or dissatisfied client into a loyal brand champion through empathy and rapid resolution.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9997135" cy="4663440"/>
          </a:xfrm>
          <a:prstGeom prst="roundRect">
            <a:avLst/>
          </a:prstGeom>
          <a:solidFill>
            <a:srgbClr val="111624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64592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CHAPTER 11 · INFOGRAPHIC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19456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Organisation Policies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Workplace safety, non-negotiable legal mandates, and employee duty of care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4389120"/>
            <a:ext cx="2926080" cy="45720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📊 1 Executive Visuals Included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389120" cy="2926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Calibri"/>
              </a:defRPr>
            </a:pPr>
            <a:r>
              <a:t>CHAPTER 11 · ORGANISATION POLICIES · SEC 11.1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32004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JSW MOTORS</a:t>
            </a:r>
          </a:p>
          <a:p>
            <a:pPr algn="r">
              <a:defRPr sz="950" b="1">
                <a:solidFill>
                  <a:srgbClr val="F59E0B"/>
                </a:solidFill>
              </a:defRPr>
            </a:pPr>
            <a:r>
              <a:t>INFOGRAPHIC 15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1F5F9"/>
                </a:solidFill>
                <a:latin typeface="Calibri"/>
              </a:defRPr>
            </a:pPr>
            <a:r>
              <a:t>Women Working After Dark: Mandatory Safety Checklist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Non-negotiable duty of care and state legal compliance standard for all dealership formats.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303520" cy="2057400"/>
          </a:xfrm>
          <a:prstGeom prst="roundRect">
            <a:avLst/>
          </a:prstGeom>
          <a:solidFill>
            <a:srgbClr val="13192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🛡️ CHECKLIST ITEM 01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Safe Transport from Dealership to Home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Verified company cab or pre-approved vetted transportation directly dropping the employee at her doorstep.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828800"/>
            <a:ext cx="5303520" cy="2057400"/>
          </a:xfrm>
          <a:prstGeom prst="roundRect">
            <a:avLst/>
          </a:prstGeom>
          <a:solidFill>
            <a:srgbClr val="13192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B6D4"/>
                </a:solidFill>
              </a:defRPr>
            </a:pPr>
            <a:r>
              <a:t>🛡️ CHECKLIST ITEM 02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Adequate Exterior &amp; Interior Lighting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Well-lit parking bays, security checkpoints, service reception, and perimeter pathways throughout night shifts.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69080"/>
            <a:ext cx="5303520" cy="2057400"/>
          </a:xfrm>
          <a:prstGeom prst="roundRect">
            <a:avLst/>
          </a:prstGeom>
          <a:solidFill>
            <a:srgbClr val="13192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🛡️ CHECKLIST ITEM 03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Security Presence On Premises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Trained security personnel actively stationed at gates, workshop areas, and showroom premises at all times.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4069080"/>
            <a:ext cx="5303520" cy="2057400"/>
          </a:xfrm>
          <a:prstGeom prst="roundRect">
            <a:avLst/>
          </a:prstGeom>
          <a:solidFill>
            <a:srgbClr val="131926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43F5E"/>
                </a:solidFill>
              </a:defRPr>
            </a:pPr>
            <a:r>
              <a:t>🛡️ CHECKLIST ITEM 04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Never A Woman Working Alone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Strict protocol mandating a minimum staffing buddy system—no female employee left as sole occupant on premises.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822960"/>
            <a:ext cx="10362895" cy="5212080"/>
          </a:xfrm>
          <a:prstGeom prst="roundRect">
            <a:avLst/>
          </a:prstGeom>
          <a:solidFill>
            <a:srgbClr val="10162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46304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JSW HR Operations Standards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Integrated Visual Infographics &amp; Web Portal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All 15 infographics are embedded directly within the interactive live portal.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63040" y="3383280"/>
            <a:ext cx="9235440" cy="1280160"/>
          </a:xfrm>
          <a:prstGeom prst="roundRect">
            <a:avLst/>
          </a:prstGeom>
          <a:solidFill>
            <a:srgbClr val="172235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🌐 Live Portal Link (Always Updated):</a:t>
            </a:r>
          </a:p>
          <a:p>
            <a:pPr>
              <a:defRPr sz="2000" b="1">
                <a:solidFill>
                  <a:srgbClr val="06B6D4"/>
                </a:solidFill>
              </a:defRPr>
            </a:pPr>
            <a:r>
              <a:t>https://shozaammm.github.io/jsw-hr-portal/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Accessible on desktop, tablet, and mobile by Jayjeet, Sahil, Sagar, Sumedha Ma'am, and dealership leads.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